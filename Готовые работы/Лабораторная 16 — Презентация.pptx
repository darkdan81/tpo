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87c3ae63244c0" /><Relationship Type="http://schemas.openxmlformats.org/officeDocument/2006/relationships/extended-properties" Target="/docProps/app.xml" Id="Rfdbd482254c84c29" /><Relationship Type="http://schemas.openxmlformats.org/officeDocument/2006/relationships/officeDocument" Target="/ppt/presentation.xml" Id="Re1473aeeee15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834b73f1cd4cd4"/>
  </p:sldMasterIdLst>
  <p:notesMasterIdLst>
    <p:notesMasterId xmlns:r="http://schemas.openxmlformats.org/officeDocument/2006/relationships" r:id="Rab76616cba11436e"/>
  </p:notesMasterIdLst>
  <p:sldIdLst>
    <p:sldId xmlns:r="http://schemas.openxmlformats.org/officeDocument/2006/relationships" id="256" r:id="R4d2cee32fa1246f2"/>
    <p:sldId xmlns:r="http://schemas.openxmlformats.org/officeDocument/2006/relationships" id="257" r:id="R375a7bae72aa42fc"/>
    <p:sldId xmlns:r="http://schemas.openxmlformats.org/officeDocument/2006/relationships" id="258" r:id="R003155f9a0d744fc"/>
    <p:sldId xmlns:r="http://schemas.openxmlformats.org/officeDocument/2006/relationships" id="259" r:id="R3337f9a5f12b481c"/>
    <p:sldId xmlns:r="http://schemas.openxmlformats.org/officeDocument/2006/relationships" id="260" r:id="Rded7eca93d594ce2"/>
    <p:sldId xmlns:r="http://schemas.openxmlformats.org/officeDocument/2006/relationships" id="261" r:id="R06d23acd064049f6"/>
    <p:sldId xmlns:r="http://schemas.openxmlformats.org/officeDocument/2006/relationships" id="262" r:id="Ra18614936d024d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e00dcaa47f45c1" /><Relationship Type="http://schemas.openxmlformats.org/officeDocument/2006/relationships/slideMaster" Target="/ppt/slideMasters/slideMaster1.xml" Id="R34834b73f1cd4cd4" /><Relationship Type="http://schemas.openxmlformats.org/officeDocument/2006/relationships/notesMaster" Target="/ppt/notesMasters/notesMaster1.xml" Id="Rab76616cba11436e" /><Relationship Type="http://schemas.openxmlformats.org/officeDocument/2006/relationships/presProps" Target="/ppt/presProps.xml" Id="Recc324a8777544dc" /><Relationship Type="http://schemas.openxmlformats.org/officeDocument/2006/relationships/tableStyles" Target="/ppt/tableStyles.xml" Id="R00f9685bd51d4659" /><Relationship Type="http://schemas.openxmlformats.org/officeDocument/2006/relationships/slide" Target="/ppt/slides/slide1.xml" Id="R4d2cee32fa1246f2" /><Relationship Type="http://schemas.openxmlformats.org/officeDocument/2006/relationships/slide" Target="/ppt/slides/slide2.xml" Id="R375a7bae72aa42fc" /><Relationship Type="http://schemas.openxmlformats.org/officeDocument/2006/relationships/slide" Target="/ppt/slides/slide3.xml" Id="R003155f9a0d744fc" /><Relationship Type="http://schemas.openxmlformats.org/officeDocument/2006/relationships/slide" Target="/ppt/slides/slide4.xml" Id="R3337f9a5f12b481c" /><Relationship Type="http://schemas.openxmlformats.org/officeDocument/2006/relationships/slide" Target="/ppt/slides/slide5.xml" Id="Rded7eca93d594ce2" /><Relationship Type="http://schemas.openxmlformats.org/officeDocument/2006/relationships/slide" Target="/ppt/slides/slide6.xml" Id="R06d23acd064049f6" /><Relationship Type="http://schemas.openxmlformats.org/officeDocument/2006/relationships/slide" Target="/ppt/slides/slide7.xml" Id="Ra18614936d024d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9d0886c644f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c577f5f0442cf" /><Relationship Type="http://schemas.openxmlformats.org/officeDocument/2006/relationships/notesMaster" Target="/ppt/notesMasters/notesMaster1.xml" Id="R96e9596b762d49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8728d747f6415d" /><Relationship Type="http://schemas.openxmlformats.org/officeDocument/2006/relationships/notesMaster" Target="/ppt/notesMasters/notesMaster1.xml" Id="R24e912e9908e49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c85b019ea48c2" /><Relationship Type="http://schemas.openxmlformats.org/officeDocument/2006/relationships/notesMaster" Target="/ppt/notesMasters/notesMaster1.xml" Id="Rd970b16e4e24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2ed37996c944f7" /><Relationship Type="http://schemas.openxmlformats.org/officeDocument/2006/relationships/notesMaster" Target="/ppt/notesMasters/notesMaster1.xml" Id="Rcc1487934e0f4f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f532e4685c415e" /><Relationship Type="http://schemas.openxmlformats.org/officeDocument/2006/relationships/notesMaster" Target="/ppt/notesMasters/notesMaster1.xml" Id="R7a374efce054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19d9282f2d47d7" /><Relationship Type="http://schemas.openxmlformats.org/officeDocument/2006/relationships/notesMaster" Target="/ppt/notesMasters/notesMaster1.xml" Id="Rc2f0667a5854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e3b838ad24060" /><Relationship Type="http://schemas.openxmlformats.org/officeDocument/2006/relationships/notesMaster" Target="/ppt/notesMasters/notesMaster1.xml" Id="Rc0ba5810ee5244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Мы проверили локальный учебный KnowBase по стратегии лабораторной 15. Цель — оценить готовность продукта, а не получить максимальное число багов. Проверены основные пользовательские действия и настоящий RAG. Нагрузочная часть выполнялась отдельно с заглушкой чата. По результатам 43 проверок релиз не рекомендован. Далее покажем объём проверки, фактические дефекты и критерии решения. Источник: Материалы проверок/Лабораторная 16/cycle.json.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Высокий приоритет получили права доступа, сохранность основных данных и достоверность RAG. Ошибки этих блоков влияют на доступ к данным и решения пользователя. Затем проверялись кабинет, поиск, интерфейс чата и нагрузка. Позитивные проверки дополнены негативными: отсутствие авторизации, попытка другого пользователя изменить специально созданный объект, неверные данные. Для RAG подготовлены статьи с точными фактами и ожидаемые ответы до обращения к модели. Источник: Лабораторная 15 — Тест-план.xlsx.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В цикл вошли 31 функциональная проверка, пять новых вопросов RAG, четыре проверки интерфейса и три выполненных нагрузочных этапа. Результаты нагрузки получены в лабораторной 12 на том же локальном стенде. Повторная коллекция Bruno дала 30 успешных запросов из 31 и отдельно подтвердила контрактный дефект. Эти запросы не добавлены второй раз к 43 тестам, поскольку проверяют те же API-операции. Заблокированных и пропущенных проверок в цикле нет. Источник: Лабораторная 16 — TMS.xlsx, лист Сводка.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65 секунд. Первый основной дефект — отрицание существующих сведений. Мы заранее создали и проиндексировали два учебных регламента. В одном указан срок хранения 14 дней для Атласа, в другом 30 дней для Веги. На неоднозначный вопрос ожидается уточнение проекта или перечисление вариантов. Вместо этого модель сообщает, что сроков нет. При этом идентификаторы обоих документов присутствуют в ответе. Наблюдение повторилось в исследовательской и комплексной проверке. Это показывает, что сам список источников не гарантирует достоверность ответа. Источник: rag-results.json вопрос 5; корпус лабораторной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55 секунд. Второй Major связан с неподтверждённым существенным условием. В ответ на вопрос с длинным хвостом символов модель назвала 14 дней, но добавила, что срок может зависеть от других факторов. Этого нет ни в одном учебном регламенте. Ответ сохранён полностью; повторная генерация может отличаться. Из локальных дефектов интерфейса подтверждён пустой Enter: кнопка заблокирована, но клавиша всё равно отправляет пустой запрос. Сервер корректно отвечает 400, однако в диалоге появляется пустое сообщение. Дополнительно найден контрактный дефект обязательных полей. Источник: bugs.json лабораторной 14 и cycle.json.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Всего в сводке четыре уникальных открытых дефекта: два Major в RAG и два Minor. Два проваленных вопроса, вызванных отрицанием фактов, учитываются как один дефект, а не два. Плотность для RAG равна двум дефектам на пять выбранных тестов цикла, то есть 0,4 дефекта на тест. Это не плотность на строку кода. В нагрузочных запусках ошибок нет, интенсивность растёт примерно пропорционально числу пользователей. Эти значения относятся к приложению с заглушкой чата и не описывают производительность генерации Ollama. Источник: metrics.json лабораторной 12 и cycle.json.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Мы принимаем решение по критериям, установленным до комплексной проверки. Все запланированные проверки исполнены, нарушения прав на контролируемых объектах не подтверждены, нагрузочные показатели MOCK укладываются в критерии. Однако Pass Rate ниже 95 процентов и остаются два Major-дефекта достоверности. Поэтому рекомендация — не выпускать текущую сборку. Сначала следует исправить выявленные дефекты, затем повторить затронутые сценарии и регрессию основных действий. Подготовленные кейсы, источники и полные ответы сохранены для следующего цикла. Источник: тест-план лабораторной 15; цикл лабораторной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de5362cbf42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157fdea9342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cce5f703545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e020617c346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b065f64bf4a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71eee0bbfc47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9E857E-C859-409F-92AD-49B3C0FA70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E8B174-E0A2-4D4E-B081-B270136A61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6D9CAB2-8FE0-4AE0-804C-8634805B7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0EF354-33A8-42FC-AA02-0803A8127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CD40E2-DAD6-4C44-AB29-7D6E884DFD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DEE0AF-28C7-4ED2-BC58-0C0131D696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79AA94-9605-4095-9BE4-C4D2B1046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B372A3-20F0-4153-8083-43C3D79290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914106-6823-478F-A2C6-AA1250518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BBD2F-E746-4BC9-94C1-CCBDBA3774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35419c6fb4cac" /><Relationship Type="http://schemas.openxmlformats.org/officeDocument/2006/relationships/slideLayout" Target="/ppt/slideLayouts/slideLayout1.xml" Id="Rf3b35f92030f40e5" /><Relationship Type="http://schemas.openxmlformats.org/officeDocument/2006/relationships/slideLayout" Target="/ppt/slideLayouts/slideLayout2.xml" Id="R871c9da73e8c4579" /><Relationship Type="http://schemas.openxmlformats.org/officeDocument/2006/relationships/slideLayout" Target="/ppt/slideLayouts/slideLayout3.xml" Id="R1c5c4b4a5a1b4b07" /><Relationship Type="http://schemas.openxmlformats.org/officeDocument/2006/relationships/slideLayout" Target="/ppt/slideLayouts/slideLayout4.xml" Id="Rc10fedf13b4f43c5" /><Relationship Type="http://schemas.openxmlformats.org/officeDocument/2006/relationships/slideLayout" Target="/ppt/slideLayouts/slideLayout5.xml" Id="R0e2d176359f84aab" /><Relationship Type="http://schemas.openxmlformats.org/officeDocument/2006/relationships/slideLayout" Target="/ppt/slideLayouts/slideLayout6.xml" Id="Ra99eccec70924e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b35f92030f40e5"/>
    <p:sldLayoutId xmlns:r="http://schemas.openxmlformats.org/officeDocument/2006/relationships" id="2147483650" r:id="R871c9da73e8c4579"/>
    <p:sldLayoutId xmlns:r="http://schemas.openxmlformats.org/officeDocument/2006/relationships" id="2147483651" r:id="R1c5c4b4a5a1b4b07"/>
    <p:sldLayoutId xmlns:r="http://schemas.openxmlformats.org/officeDocument/2006/relationships" id="2147483652" r:id="Rc10fedf13b4f43c5"/>
    <p:sldLayoutId xmlns:r="http://schemas.openxmlformats.org/officeDocument/2006/relationships" id="2147483653" r:id="R0e2d176359f84aab"/>
    <p:sldLayoutId xmlns:r="http://schemas.openxmlformats.org/officeDocument/2006/relationships" id="2147483654" r:id="Ra99eccec70924e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52f5f251904281" /><Relationship Type="http://schemas.openxmlformats.org/officeDocument/2006/relationships/notesSlide" Target="/ppt/notesSlides/notesSlide1.xml" Id="R6bec85f800654b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755fe1d0b4446" /><Relationship Type="http://schemas.openxmlformats.org/officeDocument/2006/relationships/notesSlide" Target="/ppt/notesSlides/notesSlide2.xml" Id="R1438b442c29d43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1fd5c673d487d" /><Relationship Type="http://schemas.openxmlformats.org/officeDocument/2006/relationships/notesSlide" Target="/ppt/notesSlides/notesSlide3.xml" Id="R8ade3de266754e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dd31d65cfc4691" /><Relationship Type="http://schemas.openxmlformats.org/officeDocument/2006/relationships/notesSlide" Target="/ppt/notesSlides/notesSlide4.xml" Id="R0485873cdd0549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776ba0a0a4482" /><Relationship Type="http://schemas.openxmlformats.org/officeDocument/2006/relationships/notesSlide" Target="/ppt/notesSlides/notesSlide5.xml" Id="R2dd7b3f2297242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4460e7b3de4179" /><Relationship Type="http://schemas.openxmlformats.org/officeDocument/2006/relationships/notesSlide" Target="/ppt/notesSlides/notesSlide6.xml" Id="R5d5ac55fb49443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6941f90a7a4d99" /><Relationship Type="http://schemas.openxmlformats.org/officeDocument/2006/relationships/notesSlide" Target="/ppt/notesSlides/notesSlide7.xml" Id="R08ac8b34985d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C1896-6C30-434F-A456-C7714DA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E27A3-800B-4E0D-A9FE-C1D083CD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Комплексное тестирование KnowBase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9EC1F-9AB6-40FB-963F-A8D325C1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063C9-16A8-4857-B439-BAD8B881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DFF284-C0D8-4B61-872B-548EC364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Учебный корпоративный портал знаний</a:t>
            </a:r>
          </a:p>
          <a:p xmlns:a="http://schemas.openxmlformats.org/drawingml/2006/main">
            <a:pPr>
              <a:defRPr sz="24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Авторизация, статьи, комментарии, поиск и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95DCD-C719-4B0A-B351-E81E588C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Релиз не рекомендован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B762D-7A48-4F00-9512-7D864B1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43 проверки   39 Passed   4 Failed   Pass Rate 90,70%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599BF-7971-4952-A7FC-B50188F2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Васильев Артём Евгеньевич К3440</a:t>
            </a:r>
          </a:p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Алексеев Андрей Викторович К3441</a:t>
            </a:r>
          </a:p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Дущенко Даниил Александрович К3441</a:t>
            </a:r>
          </a:p>
          <a:p xmlns:a="http://schemas.openxmlformats.org/drawingml/2006/main">
            <a:pPr>
              <a:defRPr sz="157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Цатинян Артём Арменович К3439</a:t>
            </a:r>
          </a:p>
        </p:txBody>
      </p:sp>
    </p:spTree>
    <p:extLst>
      <p:ext uri="{BB962C8B-B14F-4D97-AF65-F5344CB8AC3E}">
        <p14:creationId xmlns:p14="http://schemas.microsoft.com/office/powerpoint/2010/main" val="19828863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6F6E8-370A-44C7-AB52-0F060CF8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6B7E6-E594-428F-92AB-45FB48A4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Стратегия основана на рисках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68F96-9FD6-4EF8-912F-1475B496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03AF5-1BDE-4626-88A0-2888BB1C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3E036-C634-453E-BB10-D226F6F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FF2A-247A-4386-A96F-7C1DEC4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00250"/>
            <a:ext cx="885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Авторизация и права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Сохранение статей и комментариев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Достоверность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7463B-FC36-4D3C-90C5-5F3D79C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D83CB-F1AA-4184-91CB-9DE69FFA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10000"/>
            <a:ext cx="8858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Кабинет, поиск и теги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Интерфейс диалога и история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Нагрузка 10 / 20 / 50 VU с MOCK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E8541-8294-4FE9-8B3E-4088C298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Локальный KnowBase 1.0.0   Ollama qwen3.5:0.8b</a:t>
            </a:r>
          </a:p>
          <a:p xmlns:a="http://schemas.openxmlformats.org/drawingml/2006/main">
            <a:pPr>
              <a:defRPr sz="1725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Фиксированные статьи и проверка каждого ответа по источникам</a:t>
            </a:r>
          </a:p>
        </p:txBody>
      </p:sp>
    </p:spTree>
    <p:extLst>
      <p:ext uri="{BB962C8B-B14F-4D97-AF65-F5344CB8AC3E}">
        <p14:creationId xmlns:p14="http://schemas.microsoft.com/office/powerpoint/2010/main" val="6773518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28CE9-D953-46BD-B056-42F9ABA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80B30-D1BD-49E8-B9BB-8A440FDF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Результаты тестового цикла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D643-6C9C-4D70-AE5C-1B4FCDB9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A122C-B5D7-4D69-8952-403DCB81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9BF26-807D-44D5-B3C5-DE9A118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5ABB5-2207-4A4F-9B43-92468D42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проверки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A1F70-0369-4EAC-9EA3-8D071464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05F53-28D1-478B-8D0E-7DC11D49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успешны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8ED0A-FBF2-42F1-91D5-DF38CAE0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0500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1070C-1948-472A-83E6-F23D5411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00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провалены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783EB-47E4-40AF-87B0-1DE7C08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90,70%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4D9BF-A922-4AB2-9000-47CBDDA3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4812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Pass Rate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Критерий выхода не ниже 95%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DD7A0-8759-433B-92C2-B8192A0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Функциональные 30 / 31     RAG 3 / 5</a:t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UI 3 / 4     Нагрузка MOCK 3 / 3</a:t>
            </a:r>
          </a:p>
        </p:txBody>
      </p:sp>
    </p:spTree>
    <p:extLst>
      <p:ext uri="{BB962C8B-B14F-4D97-AF65-F5344CB8AC3E}">
        <p14:creationId xmlns:p14="http://schemas.microsoft.com/office/powerpoint/2010/main" val="10432158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304D3-D696-4DF3-8E6C-46AB74DB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7C7EB-14B6-40D7-A72C-3FA6ED4D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RAG отрицает имеющиеся факты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14FCE-1CA0-4821-8522-856FCD5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05970-4BF7-45F6-BA48-C3480FE0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83A3-7A55-4C8F-B1E6-77974686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KB-RAG-01   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D7E2B-9FBE-4BF9-A9CB-B06E8C4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Вопрос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8D69B-0827-4748-849C-7286B80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24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Сколько хранятся резервные копии проекта?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4C155-AAB5-48E0-BB5F-0797643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7A0A4-95B1-4EA7-95CB-78DA5CB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6323E"/>
                </a:solidFill>
                <a:latin typeface="Arial"/>
                <a:ea typeface="Arial"/>
                <a:cs typeface="Arial"/>
              </a:rPr>
              <a:t>«В документе нет информации о количестве</a:t>
            </a:r>
          </a:p>
          <a:p xmlns:a="http://schemas.openxmlformats.org/drawingml/2006/main">
            <a:pPr>
              <a:defRPr sz="2250" b="0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6323E"/>
                </a:solidFill>
                <a:latin typeface="Arial"/>
                <a:ea typeface="Arial"/>
                <a:cs typeface="Arial"/>
              </a:rPr>
              <a:t>или длительности хранения резервных копий…»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B07E2-2505-4986-B964-3A5CA55D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26173"/>
                </a:solidFill>
                <a:latin typeface="Arial"/>
                <a:ea typeface="Arial"/>
                <a:cs typeface="Arial"/>
              </a:rPr>
              <a:t>В источниках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5F1E0-540C-43B1-91E7-73C1D9A1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8577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Атлас — 14 дней. Вега — 30 дней.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Оба документа перечислены в ответе чата.</a:t>
            </a:r>
          </a:p>
        </p:txBody>
      </p:sp>
    </p:spTree>
    <p:extLst>
      <p:ext uri="{BB962C8B-B14F-4D97-AF65-F5344CB8AC3E}">
        <p14:creationId xmlns:p14="http://schemas.microsoft.com/office/powerpoint/2010/main" val="1473113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ECB6C-1F09-4BB2-A814-B4B4A0F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CE2D5-16CD-4950-91B3-FBB7A0B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Другие подтверждённые дефекты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4F324-B330-4E8B-BE97-2D5FF4F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134B4-504D-4024-BAE6-2AB3D96E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E97127-3335-448C-9D9A-4CE947C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KB-RAG-02   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123A7-2645-467F-B168-EA2FB8A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К факту о 14 днях добавлено условие: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«срок … может зависеть от других факторов».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Регламенты таких условий не содержат.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349AC-BCF1-4795-BFE4-37D5D6DE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KB-UI-01   Minor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61830-E0D3-4A97-96BC-6FC72838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Пустой Enter отправляет запрос и создаёт ошибку 400,</a:t>
            </a:r>
          </a:p>
          <a:p xmlns:a="http://schemas.openxmlformats.org/drawingml/2006/main">
            <a:pPr>
              <a:defRPr sz="225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хотя кнопка отправки недоступна.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7072B-3A85-414A-A65D-D8D189DC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Ещё один Minor: Swagger не объявляет обязательные id и userId при создании статьи.</a:t>
            </a:r>
          </a:p>
        </p:txBody>
      </p:sp>
    </p:spTree>
    <p:extLst>
      <p:ext uri="{BB962C8B-B14F-4D97-AF65-F5344CB8AC3E}">
        <p14:creationId xmlns:p14="http://schemas.microsoft.com/office/powerpoint/2010/main" val="89481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97BFE-7F1F-4591-8E1B-C0E8E801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D1A1B-556C-4A72-9E4F-E9BFB807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Метрики показывают основной риск RAG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016C3-464E-4063-83F8-9A06AE33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053C9-598C-4117-AE33-E08893DD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F07FE-EC81-4F85-8297-D8032A65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Дефекты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C5CC6-FB4C-4273-8EB9-979B26B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Нагрузка при 50 VU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86DC1-256D-45B7-890B-2538BD49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A0E17-FAE7-4CE5-B0A6-13FCDD41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23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F1418-FCEC-4AC7-87C2-3FB89F61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1462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82F8F-35DC-44B9-8366-4D290278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Minor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BE0F4-2762-4181-8C2B-9B300708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228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7D8AF5-AB43-4C5E-B311-E3CFC50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147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45698-979A-4A0B-87E2-4778357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542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Blocker 0   Critical 0   Trivial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EBF60-552D-48E9-AD3C-E4C7FBFE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5048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Поиск</a:t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RPS 24,941   p95 3,338 мс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Чат MOCK</a:t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RPS 24,941   p95 1,561 мс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HTTP-ошибки 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3BDBB-7D08-4A0C-9241-91467AB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Плотность RAG: 2 дефекта / 5 тестов = 0,400</a:t>
            </a:r>
          </a:p>
        </p:txBody>
      </p:sp>
    </p:spTree>
    <p:extLst>
      <p:ext uri="{BB962C8B-B14F-4D97-AF65-F5344CB8AC3E}">
        <p14:creationId xmlns:p14="http://schemas.microsoft.com/office/powerpoint/2010/main" val="1693434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C9B13-7123-4CAF-B290-C70E8496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09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9F487-EA8D-4794-918C-84D96061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C44"/>
                </a:solidFill>
                <a:latin typeface="Arial"/>
                <a:ea typeface="Arial"/>
                <a:cs typeface="Arial"/>
              </a:rPr>
              <a:t>Релиз не рекомендован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C8291-108A-4A4A-8969-D906AB07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KnowBase   Лабораторная 16   22 октября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2EBEC-6DAD-4D37-A193-9E8A1F07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3DD34-A89D-487B-BEB2-0F3F1B00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632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6323E"/>
                </a:solidFill>
                <a:latin typeface="Arial"/>
                <a:ea typeface="Arial"/>
                <a:cs typeface="Arial"/>
              </a:rPr>
              <a:t>Не выполнены три критерия выхода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41DA0-39EE-4339-A4E0-8FACDF22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Pass Rate 90,70% ниже требуемых 95%</a:t>
            </a:r>
          </a:p>
          <a:p xmlns:a="http://schemas.openxmlformats.org/drawingml/2006/main">
            <a: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Остаются два открытых Major-дефекта</a:t>
            </a:r>
          </a:p>
          <a:p xmlns:a="http://schemas.openxmlformats.org/drawingml/2006/main">
            <a:pPr>
              <a:defRPr sz="2325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Есть неподтверждённые существенные сведения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F0A06-A0C5-4910-AE23-DA0A797E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85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5E8C"/>
                </a:solidFill>
                <a:latin typeface="Arial"/>
                <a:ea typeface="Arial"/>
                <a:cs typeface="Arial"/>
              </a:rPr>
              <a:t>Следующий цикл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00AC2-64F1-4F45-A363-5B5A6EA9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Исправить достоверность RAG, пустой Enter и Swagger.</a:t>
            </a:r>
          </a:p>
          <a:p xmlns:a="http://schemas.openxmlformats.org/drawingml/2006/main">
            <a:pPr>
              <a:defRPr sz="2100" b="0">
                <a:solidFill>
                  <a:srgbClr val="172C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44"/>
                </a:solidFill>
                <a:latin typeface="Arial"/>
                <a:ea typeface="Arial"/>
                <a:cs typeface="Arial"/>
              </a:rPr>
              <a:t>Повторить затронутые сценарии и регрессию основных действий.</a:t>
            </a:r>
          </a:p>
        </p:txBody>
      </p:sp>
    </p:spTree>
    <p:extLst>
      <p:ext uri="{BB962C8B-B14F-4D97-AF65-F5344CB8AC3E}">
        <p14:creationId xmlns:p14="http://schemas.microsoft.com/office/powerpoint/2010/main" val="13930896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2026-10-22T09:22:43.0990000Z</dcterms:created>
  <dcterms:modified xsi:type="dcterms:W3CDTF">2026-10-22T09:22:43.0990000Z</dcterms:modified>
</coreProperties>
</file>